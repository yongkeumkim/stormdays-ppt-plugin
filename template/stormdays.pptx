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23"/>
    <a:srgbClr val="F3F3F3"/>
    <a:srgbClr val="E3E0D9"/>
    <a:srgbClr val="E2E2E2"/>
    <a:srgbClr val="EAEAEA"/>
    <a:srgbClr val="FFBD0B"/>
    <a:srgbClr val="C68B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7" autoAdjust="0"/>
    <p:restoredTop sz="94660"/>
  </p:normalViewPr>
  <p:slideViewPr>
    <p:cSldViewPr snapToGrid="0">
      <p:cViewPr>
        <p:scale>
          <a:sx n="50" d="100"/>
          <a:sy n="50" d="100"/>
        </p:scale>
        <p:origin x="66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투자계획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2D-40A6-A26A-85919798C3F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42D-40A6-A26A-85919798C3FE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42D-40A6-A26A-85919798C3F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Noto Sans KR" panose="020B0200000000000000" pitchFamily="50" charset="-127"/>
                      <a:ea typeface="Noto Sans KR" panose="020B0200000000000000" pitchFamily="50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B42D-40A6-A26A-85919798C3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기술 개발</c:v>
                </c:pt>
                <c:pt idx="1">
                  <c:v>마케팅</c:v>
                </c:pt>
                <c:pt idx="2">
                  <c:v>인프라</c:v>
                </c:pt>
                <c:pt idx="3">
                  <c:v>인력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D-40A6-A26A-85919798C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9B9BF-7832-D351-A61C-26FCB02F0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C21DEC-9EDC-1C44-E106-41C4489A2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C732B2-C429-A433-3D61-253E4771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A59117-DE04-5BCA-11D5-64B45225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C8866-88CD-3399-B746-605DB86E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40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87020-50C8-9D2D-9F7C-D0640E52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14F15-1909-E51D-9779-D1BCDCA3E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9A8D4-05FB-F746-FA12-5F651AAD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406D46-3CDE-D49E-E357-25C32578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64A89D-25A7-CC21-0EF5-4825109E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5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EB545-3D1F-9DC1-4A87-88B2F3CD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D0E3BA-583D-D6D6-DC45-D8AFA8ED2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42C4C-940F-705F-27C4-48449408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74D781-E0AB-D138-FB36-32C7B1AC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BBC9CC-C963-9B31-3CFE-DBF50492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15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3D79A-42D1-FA7B-0D0C-70F9A53E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D97951-CB3F-4DA1-FE1B-E9ED29FC4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4C14DF-9DCB-EDAB-D911-9DCFD8DA3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460E7C-75BB-C4A8-5301-99F30F1C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63942-4E3F-0269-F62C-9ACB8401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BA8141-8827-2A63-7999-4A207B52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89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C2326-9E13-7A61-3BAA-F9E74B90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9C48DA-5644-7054-778A-6A29F7EE3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90BB61-BCC9-20CB-C246-A7C7DDF33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71BDC2-87A9-1EE5-3505-3BDEA227E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C151F2-C522-0CE7-7958-559662838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601F80-9613-060A-976D-D156A0CD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A89FDC-2F89-B77B-27C9-A904D152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05D904-F7E6-DD81-F48E-64DA0101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09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F56E3-0CBE-3E4D-078F-C98F651A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19D09F-DFFB-C6F2-9B18-FF2036FF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EE9C3F-7B46-3C8B-C0CD-C853C5FF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EE9906-71C0-00E5-ACA8-7D4EA4CA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9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C7D047-6859-E525-F90B-926A5778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2B0AC3-9706-699D-97CB-67D66305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BC534-2071-389A-1C7D-BB997978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65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025B1-6BC3-1BCE-97E2-CAA265FE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DA6406-97EB-5D91-43B9-7C9AC9EB5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92F577-B0EA-F35F-BDEE-947D8056A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B866BD-E9B7-6022-AB3C-DCD58933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04B9CE-A5B3-EEA7-C407-463F3CDB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56EF46-1B39-995D-7E98-780F2BEB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23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B3E05-E301-DB47-7CFD-5480F90B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4C603C-88EA-DAA3-3320-027F0ECFE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DDE2AA-5EED-72B9-9C39-B02B56775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E58FAA-413A-DFEB-39C1-731DA875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96C3CB-E4E2-A4EA-D47B-850E985A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F334B7-59C1-CB6B-7118-4152150B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70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F1953-C2F7-C025-E526-507C8CB8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FEDA3C-58F0-3E4B-FE06-223AACDD0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B9B66F-8C67-3006-3EB8-4E4553C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E7B7CB-AEDA-3519-1312-3316922A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065AB-3894-AC77-C23D-6EA914D6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59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D952AD-6304-C3D5-8679-D0F790C98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D5C3CE-221B-470D-CA34-279F2BBAF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1197-74BA-2D55-64BF-CA5B7A2B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DFE44-60A0-3AB0-C556-7CAEF130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ED9E7-2EBA-B656-41CB-41D792C5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8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70F9EE-60DF-328F-F0C0-22995A65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1B3762-B373-08A9-0025-C0CCBB9F0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9ABC5-67CE-CB9A-CD94-0937A6527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1FFBF-7997-4553-933B-3C46D633D84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525EA0-8F4C-635C-0235-73FD92E80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9D8517-3E5E-7BF4-62BE-4F1110154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EEBD8-DEAC-42E7-81C8-C4F93C3B3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74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noto/specimen/Noto+Sans+K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E0BBF-9AB2-BEB6-5CC1-9074B10CD624}"/>
              </a:ext>
            </a:extLst>
          </p:cNvPr>
          <p:cNvSpPr txBox="1"/>
          <p:nvPr/>
        </p:nvSpPr>
        <p:spPr>
          <a:xfrm>
            <a:off x="2886920" y="3693078"/>
            <a:ext cx="5845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성장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293472" y="1319118"/>
            <a:ext cx="55056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8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2025</a:t>
            </a:r>
            <a:endParaRPr lang="ko-KR" altLang="en-US" sz="168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DB822-CC79-99B2-A2F8-028444CEFFE6}"/>
              </a:ext>
            </a:extLst>
          </p:cNvPr>
          <p:cNvSpPr txBox="1"/>
          <p:nvPr/>
        </p:nvSpPr>
        <p:spPr>
          <a:xfrm>
            <a:off x="3002668" y="4616408"/>
            <a:ext cx="5845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디지털 전환을 통한 시장 확대 방안</a:t>
            </a:r>
          </a:p>
        </p:txBody>
      </p:sp>
    </p:spTree>
    <p:extLst>
      <p:ext uri="{BB962C8B-B14F-4D97-AF65-F5344CB8AC3E}">
        <p14:creationId xmlns:p14="http://schemas.microsoft.com/office/powerpoint/2010/main" val="359337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6056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DB822-CC79-99B2-A2F8-028444CEFFE6}"/>
              </a:ext>
            </a:extLst>
          </p:cNvPr>
          <p:cNvSpPr txBox="1"/>
          <p:nvPr/>
        </p:nvSpPr>
        <p:spPr>
          <a:xfrm>
            <a:off x="3040768" y="1914133"/>
            <a:ext cx="693032" cy="3731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0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08</a:t>
            </a:r>
            <a:endParaRPr lang="ko-KR" altLang="en-US" sz="20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7F4A9-6FB4-5ABC-CCCC-93A3E39575F8}"/>
              </a:ext>
            </a:extLst>
          </p:cNvPr>
          <p:cNvSpPr txBox="1"/>
          <p:nvPr/>
        </p:nvSpPr>
        <p:spPr>
          <a:xfrm>
            <a:off x="3732111" y="1914133"/>
            <a:ext cx="5845214" cy="3731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시장 분석</a:t>
            </a: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과제 및 기회</a:t>
            </a: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우리의 비전</a:t>
            </a: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 전략</a:t>
            </a: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 성과</a:t>
            </a: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투자 계획</a:t>
            </a:r>
            <a:endParaRPr lang="en-US" altLang="ko-KR" sz="2000" spc="-150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계획</a:t>
            </a: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23662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895590-195E-9E37-1489-49F60B2B3AD1}"/>
              </a:ext>
            </a:extLst>
          </p:cNvPr>
          <p:cNvGrpSpPr/>
          <p:nvPr/>
        </p:nvGrpSpPr>
        <p:grpSpPr>
          <a:xfrm>
            <a:off x="2856618" y="696468"/>
            <a:ext cx="6198362" cy="4146584"/>
            <a:chOff x="2856618" y="1058418"/>
            <a:chExt cx="6198362" cy="41465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8E73D7-D7BE-B361-B381-16B5B38C2C17}"/>
                </a:ext>
              </a:extLst>
            </p:cNvPr>
            <p:cNvSpPr txBox="1"/>
            <p:nvPr/>
          </p:nvSpPr>
          <p:spPr>
            <a:xfrm>
              <a:off x="2856618" y="1058418"/>
              <a:ext cx="6198362" cy="4146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9900" b="1" spc="-30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15</a:t>
              </a:r>
              <a:r>
                <a:rPr lang="en-US" altLang="ko-KR" sz="8800" b="1" spc="-30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%</a:t>
              </a:r>
              <a:endParaRPr lang="ko-KR" altLang="en-US" sz="23900" b="1" spc="-30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F807B5C5-7022-3414-F689-9426F8CAEB5A}"/>
                </a:ext>
              </a:extLst>
            </p:cNvPr>
            <p:cNvSpPr/>
            <p:nvPr/>
          </p:nvSpPr>
          <p:spPr>
            <a:xfrm>
              <a:off x="5955799" y="2531569"/>
              <a:ext cx="914400" cy="788276"/>
            </a:xfrm>
            <a:prstGeom prst="triangle">
              <a:avLst/>
            </a:prstGeom>
            <a:solidFill>
              <a:srgbClr val="FFBD0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01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DB822-CC79-99B2-A2F8-028444CEFFE6}"/>
              </a:ext>
            </a:extLst>
          </p:cNvPr>
          <p:cNvSpPr txBox="1"/>
          <p:nvPr/>
        </p:nvSpPr>
        <p:spPr>
          <a:xfrm>
            <a:off x="3040768" y="4428701"/>
            <a:ext cx="3455282" cy="662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전년 대비 </a:t>
            </a:r>
            <a:r>
              <a:rPr lang="en-US" altLang="ko-KR" sz="28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15% </a:t>
            </a:r>
            <a:r>
              <a:rPr lang="ko-KR" altLang="en-US" sz="28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현재 시장 분석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736FF-F0B9-2D28-0848-C52961CF2A22}"/>
              </a:ext>
            </a:extLst>
          </p:cNvPr>
          <p:cNvSpPr txBox="1"/>
          <p:nvPr/>
        </p:nvSpPr>
        <p:spPr>
          <a:xfrm>
            <a:off x="3307468" y="5146421"/>
            <a:ext cx="3455282" cy="119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자동화 솔루션 수요 증가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원격 근무 환경 확대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 경험 중심의 서비스 전환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B50182F-5AB2-8A0B-9FBA-C2A2B7E767A8}"/>
              </a:ext>
            </a:extLst>
          </p:cNvPr>
          <p:cNvCxnSpPr/>
          <p:nvPr/>
        </p:nvCxnSpPr>
        <p:spPr>
          <a:xfrm>
            <a:off x="3205868" y="5302250"/>
            <a:ext cx="0" cy="8890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7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02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DB822-CC79-99B2-A2F8-028444CEFFE6}"/>
              </a:ext>
            </a:extLst>
          </p:cNvPr>
          <p:cNvSpPr txBox="1"/>
          <p:nvPr/>
        </p:nvSpPr>
        <p:spPr>
          <a:xfrm>
            <a:off x="3040768" y="2276051"/>
            <a:ext cx="3455282" cy="662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주요 과제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주요 과제 및 기회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736FF-F0B9-2D28-0848-C52961CF2A22}"/>
              </a:ext>
            </a:extLst>
          </p:cNvPr>
          <p:cNvSpPr txBox="1"/>
          <p:nvPr/>
        </p:nvSpPr>
        <p:spPr>
          <a:xfrm>
            <a:off x="3040768" y="2993771"/>
            <a:ext cx="3455282" cy="119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레거시 시스템의 디지털 전환 필요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숙련된 인력 확보의 어려움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빠르게 변화하는 기술 환경</a:t>
            </a:r>
          </a:p>
        </p:txBody>
      </p:sp>
      <p:pic>
        <p:nvPicPr>
          <p:cNvPr id="11" name="그림 10" descr="스크린샷, 그래픽, 별이(가) 표시된 사진&#10;&#10;자동 생성된 설명">
            <a:extLst>
              <a:ext uri="{FF2B5EF4-FFF2-40B4-BE49-F238E27FC236}">
                <a16:creationId xmlns:a16="http://schemas.microsoft.com/office/drawing/2014/main" id="{3AB593B9-59B6-586C-7AA5-FB9E629A5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550" y="2202772"/>
            <a:ext cx="3849428" cy="3843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7E2B73-A578-49FA-0B3E-25292BD99AF9}"/>
              </a:ext>
            </a:extLst>
          </p:cNvPr>
          <p:cNvSpPr txBox="1"/>
          <p:nvPr/>
        </p:nvSpPr>
        <p:spPr>
          <a:xfrm>
            <a:off x="6731887" y="4099848"/>
            <a:ext cx="3455282" cy="662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D96B40-1283-8F95-DFA7-FFA7B5EF0A5D}"/>
              </a:ext>
            </a:extLst>
          </p:cNvPr>
          <p:cNvSpPr txBox="1"/>
          <p:nvPr/>
        </p:nvSpPr>
        <p:spPr>
          <a:xfrm>
            <a:off x="6731887" y="4817568"/>
            <a:ext cx="3455282" cy="119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신규 시장 진입 가능성 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동남아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유럽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클라우드 기반 서비스 전환 수요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전략적 파트너십 구축 기회</a:t>
            </a:r>
          </a:p>
        </p:txBody>
      </p:sp>
    </p:spTree>
    <p:extLst>
      <p:ext uri="{BB962C8B-B14F-4D97-AF65-F5344CB8AC3E}">
        <p14:creationId xmlns:p14="http://schemas.microsoft.com/office/powerpoint/2010/main" val="224596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03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DB822-CC79-99B2-A2F8-028444CEFFE6}"/>
              </a:ext>
            </a:extLst>
          </p:cNvPr>
          <p:cNvSpPr txBox="1"/>
          <p:nvPr/>
        </p:nvSpPr>
        <p:spPr>
          <a:xfrm>
            <a:off x="3040767" y="2276051"/>
            <a:ext cx="71464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2027</a:t>
            </a:r>
            <a:r>
              <a:rPr lang="ko-KR" altLang="en-US" sz="32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년까지 업계 선도 기업으로 도약하여</a:t>
            </a:r>
          </a:p>
          <a:p>
            <a:r>
              <a:rPr lang="ko-KR" altLang="en-US" sz="32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고객에게 혁신적인 가치를 제공하는 기업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우리의 비전</a:t>
            </a:r>
          </a:p>
        </p:txBody>
      </p:sp>
      <p:pic>
        <p:nvPicPr>
          <p:cNvPr id="8" name="그림 7" descr="그래픽, 노랑, 상징이(가) 표시된 사진&#10;&#10;자동 생성된 설명">
            <a:extLst>
              <a:ext uri="{FF2B5EF4-FFF2-40B4-BE49-F238E27FC236}">
                <a16:creationId xmlns:a16="http://schemas.microsoft.com/office/drawing/2014/main" id="{6E933B1F-DE89-47C5-6B84-57E6623AE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421" y="1831096"/>
            <a:ext cx="1252266" cy="107721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48F9AA-FB02-E1AB-0B2B-EC8840AFDED9}"/>
              </a:ext>
            </a:extLst>
          </p:cNvPr>
          <p:cNvGrpSpPr/>
          <p:nvPr/>
        </p:nvGrpSpPr>
        <p:grpSpPr>
          <a:xfrm>
            <a:off x="3040767" y="3832371"/>
            <a:ext cx="2015979" cy="2015979"/>
            <a:chOff x="3040767" y="3832371"/>
            <a:chExt cx="2015979" cy="20159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9736FF-F0B9-2D28-0848-C52961CF2A22}"/>
                </a:ext>
              </a:extLst>
            </p:cNvPr>
            <p:cNvSpPr txBox="1"/>
            <p:nvPr/>
          </p:nvSpPr>
          <p:spPr>
            <a:xfrm>
              <a:off x="3359340" y="4547972"/>
              <a:ext cx="13788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끊임없는</a:t>
              </a:r>
            </a:p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기술 개발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DD98DF5-1C43-F0E0-7265-39BF222ECA22}"/>
                </a:ext>
              </a:extLst>
            </p:cNvPr>
            <p:cNvSpPr/>
            <p:nvPr/>
          </p:nvSpPr>
          <p:spPr>
            <a:xfrm>
              <a:off x="3040767" y="3832371"/>
              <a:ext cx="2015979" cy="2015979"/>
            </a:xfrm>
            <a:prstGeom prst="ellipse">
              <a:avLst/>
            </a:prstGeom>
            <a:noFill/>
            <a:ln w="3175">
              <a:solidFill>
                <a:srgbClr val="2323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81BC805-0587-0A9D-2654-8DB333A167BC}"/>
              </a:ext>
            </a:extLst>
          </p:cNvPr>
          <p:cNvGrpSpPr/>
          <p:nvPr/>
        </p:nvGrpSpPr>
        <p:grpSpPr>
          <a:xfrm>
            <a:off x="4736217" y="3832371"/>
            <a:ext cx="2015979" cy="2015979"/>
            <a:chOff x="3040767" y="3832371"/>
            <a:chExt cx="2015979" cy="201597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BC2620F-6605-F0AB-18DD-8C104BCC0181}"/>
                </a:ext>
              </a:extLst>
            </p:cNvPr>
            <p:cNvSpPr txBox="1"/>
            <p:nvPr/>
          </p:nvSpPr>
          <p:spPr>
            <a:xfrm>
              <a:off x="3359340" y="4547972"/>
              <a:ext cx="13788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고객과의</a:t>
              </a:r>
            </a:p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약속 이행</a:t>
              </a: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0710626-0A0C-BA9E-AB4F-5493166864ED}"/>
                </a:ext>
              </a:extLst>
            </p:cNvPr>
            <p:cNvSpPr/>
            <p:nvPr/>
          </p:nvSpPr>
          <p:spPr>
            <a:xfrm>
              <a:off x="3040767" y="3832371"/>
              <a:ext cx="2015979" cy="2015979"/>
            </a:xfrm>
            <a:prstGeom prst="ellipse">
              <a:avLst/>
            </a:prstGeom>
            <a:noFill/>
            <a:ln w="3175">
              <a:solidFill>
                <a:srgbClr val="2323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9C86C35-7D81-DA87-B55E-4D329DD90A80}"/>
              </a:ext>
            </a:extLst>
          </p:cNvPr>
          <p:cNvGrpSpPr/>
          <p:nvPr/>
        </p:nvGrpSpPr>
        <p:grpSpPr>
          <a:xfrm>
            <a:off x="6445840" y="3832371"/>
            <a:ext cx="2015979" cy="2015979"/>
            <a:chOff x="3040767" y="3832371"/>
            <a:chExt cx="2015979" cy="201597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4C931B5-617D-D900-F664-63440A8E091D}"/>
                </a:ext>
              </a:extLst>
            </p:cNvPr>
            <p:cNvSpPr txBox="1"/>
            <p:nvPr/>
          </p:nvSpPr>
          <p:spPr>
            <a:xfrm>
              <a:off x="3359340" y="4547972"/>
              <a:ext cx="13788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지속 가능한</a:t>
              </a:r>
            </a:p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비즈니스 모델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E2FCE52-28DD-DDC5-2138-9685F9442362}"/>
                </a:ext>
              </a:extLst>
            </p:cNvPr>
            <p:cNvSpPr/>
            <p:nvPr/>
          </p:nvSpPr>
          <p:spPr>
            <a:xfrm>
              <a:off x="3040767" y="3832371"/>
              <a:ext cx="2015979" cy="2015979"/>
            </a:xfrm>
            <a:prstGeom prst="ellipse">
              <a:avLst/>
            </a:prstGeom>
            <a:noFill/>
            <a:ln w="3175">
              <a:solidFill>
                <a:srgbClr val="2323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0A69F8A-C9CC-F232-1AE9-330368B42BA0}"/>
              </a:ext>
            </a:extLst>
          </p:cNvPr>
          <p:cNvGrpSpPr/>
          <p:nvPr/>
        </p:nvGrpSpPr>
        <p:grpSpPr>
          <a:xfrm>
            <a:off x="8129073" y="3832371"/>
            <a:ext cx="2015979" cy="2015979"/>
            <a:chOff x="3040767" y="3832371"/>
            <a:chExt cx="2015979" cy="2015979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F8FF557-CC5A-545C-A45D-874CDEFBE51A}"/>
                </a:ext>
              </a:extLst>
            </p:cNvPr>
            <p:cNvSpPr txBox="1"/>
            <p:nvPr/>
          </p:nvSpPr>
          <p:spPr>
            <a:xfrm>
              <a:off x="3359340" y="4547972"/>
              <a:ext cx="13788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상생의</a:t>
              </a:r>
            </a:p>
            <a:p>
              <a:pPr algn="ctr"/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파트너십</a:t>
              </a: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16BB9B3-2240-9D51-781B-226295D48135}"/>
                </a:ext>
              </a:extLst>
            </p:cNvPr>
            <p:cNvSpPr/>
            <p:nvPr/>
          </p:nvSpPr>
          <p:spPr>
            <a:xfrm>
              <a:off x="3040767" y="3832371"/>
              <a:ext cx="2015979" cy="2015979"/>
            </a:xfrm>
            <a:prstGeom prst="ellipse">
              <a:avLst/>
            </a:prstGeom>
            <a:noFill/>
            <a:ln w="3175">
              <a:solidFill>
                <a:srgbClr val="2323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39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04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핵심 전략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BB1A2E0-97A3-C038-6A29-B48AF8802D45}"/>
              </a:ext>
            </a:extLst>
          </p:cNvPr>
          <p:cNvGrpSpPr/>
          <p:nvPr/>
        </p:nvGrpSpPr>
        <p:grpSpPr>
          <a:xfrm>
            <a:off x="3183663" y="2135133"/>
            <a:ext cx="2409042" cy="3827517"/>
            <a:chOff x="3183663" y="2135133"/>
            <a:chExt cx="2409042" cy="3827517"/>
          </a:xfrm>
        </p:grpSpPr>
        <p:pic>
          <p:nvPicPr>
            <p:cNvPr id="11" name="그림 10" descr="스크린샷, 직사각형, 블랙, 사각형이(가) 표시된 사진&#10;&#10;자동 생성된 설명">
              <a:extLst>
                <a:ext uri="{FF2B5EF4-FFF2-40B4-BE49-F238E27FC236}">
                  <a16:creationId xmlns:a16="http://schemas.microsoft.com/office/drawing/2014/main" id="{A606A353-FC19-F651-36F5-2DA7C8875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663" y="2135133"/>
              <a:ext cx="2336366" cy="3827517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F2DB822-CC79-99B2-A2F8-028444CEFFE6}"/>
                </a:ext>
              </a:extLst>
            </p:cNvPr>
            <p:cNvSpPr txBox="1"/>
            <p:nvPr/>
          </p:nvSpPr>
          <p:spPr>
            <a:xfrm>
              <a:off x="3359340" y="2905780"/>
              <a:ext cx="22333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디지털 혁신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9736FF-F0B9-2D28-0848-C52961CF2A22}"/>
                </a:ext>
              </a:extLst>
            </p:cNvPr>
            <p:cNvSpPr txBox="1"/>
            <p:nvPr/>
          </p:nvSpPr>
          <p:spPr>
            <a:xfrm>
              <a:off x="3359340" y="3628497"/>
              <a:ext cx="223336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AI/ML 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기술 도입으로</a:t>
              </a:r>
            </a:p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업무 효율 </a:t>
              </a:r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30% 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향상</a:t>
              </a:r>
            </a:p>
            <a:p>
              <a:endPara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클라우드 인프라 전환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CBFE6D-38D1-F91B-D8AE-EAD39190028F}"/>
                </a:ext>
              </a:extLst>
            </p:cNvPr>
            <p:cNvSpPr txBox="1"/>
            <p:nvPr/>
          </p:nvSpPr>
          <p:spPr>
            <a:xfrm>
              <a:off x="3359341" y="2519296"/>
              <a:ext cx="16127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spc="-150" dirty="0">
                  <a:solidFill>
                    <a:srgbClr val="FFBD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step 01</a:t>
              </a:r>
              <a:endParaRPr lang="ko-KR" altLang="en-US" sz="1600" b="1" spc="-150" dirty="0">
                <a:solidFill>
                  <a:srgbClr val="FFBD0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F9FE9E1-1748-5C5D-A388-8C2416275914}"/>
              </a:ext>
            </a:extLst>
          </p:cNvPr>
          <p:cNvGrpSpPr/>
          <p:nvPr/>
        </p:nvGrpSpPr>
        <p:grpSpPr>
          <a:xfrm>
            <a:off x="5644205" y="2135133"/>
            <a:ext cx="2409042" cy="3827517"/>
            <a:chOff x="3183663" y="2135133"/>
            <a:chExt cx="2409042" cy="3827517"/>
          </a:xfrm>
        </p:grpSpPr>
        <p:pic>
          <p:nvPicPr>
            <p:cNvPr id="27" name="그림 26" descr="스크린샷, 직사각형, 블랙, 사각형이(가) 표시된 사진&#10;&#10;자동 생성된 설명">
              <a:extLst>
                <a:ext uri="{FF2B5EF4-FFF2-40B4-BE49-F238E27FC236}">
                  <a16:creationId xmlns:a16="http://schemas.microsoft.com/office/drawing/2014/main" id="{50D7B291-339B-4831-E3EC-ABDA0F6FA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663" y="2135133"/>
              <a:ext cx="2336366" cy="3827517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D0AE9B-A44C-7E18-1CB4-B5F94ACC1260}"/>
                </a:ext>
              </a:extLst>
            </p:cNvPr>
            <p:cNvSpPr txBox="1"/>
            <p:nvPr/>
          </p:nvSpPr>
          <p:spPr>
            <a:xfrm>
              <a:off x="3359340" y="2905780"/>
              <a:ext cx="22333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시장 확대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1B5D720-586E-C212-F5AD-C64501977729}"/>
                </a:ext>
              </a:extLst>
            </p:cNvPr>
            <p:cNvSpPr txBox="1"/>
            <p:nvPr/>
          </p:nvSpPr>
          <p:spPr>
            <a:xfrm>
              <a:off x="3359340" y="3628497"/>
              <a:ext cx="223336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신규 지역 진출 </a:t>
              </a:r>
            </a:p>
            <a:p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(3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 국가</a:t>
              </a:r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</a:p>
            <a:p>
              <a:endPara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B2B 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</a:t>
              </a:r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B2C </a:t>
              </a:r>
            </a:p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채널 다각화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51D15C-B469-C609-9741-EE7E1816A54E}"/>
                </a:ext>
              </a:extLst>
            </p:cNvPr>
            <p:cNvSpPr txBox="1"/>
            <p:nvPr/>
          </p:nvSpPr>
          <p:spPr>
            <a:xfrm>
              <a:off x="3359341" y="2519296"/>
              <a:ext cx="16127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spc="-150" dirty="0">
                  <a:solidFill>
                    <a:srgbClr val="FFBD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step 02</a:t>
              </a:r>
              <a:endParaRPr lang="ko-KR" altLang="en-US" sz="1600" b="1" spc="-150" dirty="0">
                <a:solidFill>
                  <a:srgbClr val="FFBD0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10B8A53-19C2-C927-A04E-41F127842E06}"/>
              </a:ext>
            </a:extLst>
          </p:cNvPr>
          <p:cNvGrpSpPr/>
          <p:nvPr/>
        </p:nvGrpSpPr>
        <p:grpSpPr>
          <a:xfrm>
            <a:off x="8104748" y="2135133"/>
            <a:ext cx="2409042" cy="3827517"/>
            <a:chOff x="3183663" y="2135133"/>
            <a:chExt cx="2409042" cy="3827517"/>
          </a:xfrm>
        </p:grpSpPr>
        <p:pic>
          <p:nvPicPr>
            <p:cNvPr id="32" name="그림 31" descr="스크린샷, 직사각형, 블랙, 사각형이(가) 표시된 사진&#10;&#10;자동 생성된 설명">
              <a:extLst>
                <a:ext uri="{FF2B5EF4-FFF2-40B4-BE49-F238E27FC236}">
                  <a16:creationId xmlns:a16="http://schemas.microsoft.com/office/drawing/2014/main" id="{2DF1ABAF-76C1-A055-C13E-9E81308BB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663" y="2135133"/>
              <a:ext cx="2336366" cy="3827517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C288CC9-E9C4-09D5-B682-4DAF925588DB}"/>
                </a:ext>
              </a:extLst>
            </p:cNvPr>
            <p:cNvSpPr txBox="1"/>
            <p:nvPr/>
          </p:nvSpPr>
          <p:spPr>
            <a:xfrm>
              <a:off x="3359340" y="2905780"/>
              <a:ext cx="22333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인재 육성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89D05F-4F9A-2FE1-6E07-6E9A85D9DC24}"/>
                </a:ext>
              </a:extLst>
            </p:cNvPr>
            <p:cNvSpPr txBox="1"/>
            <p:nvPr/>
          </p:nvSpPr>
          <p:spPr>
            <a:xfrm>
              <a:off x="3359340" y="3628497"/>
              <a:ext cx="223336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핵심 인력 </a:t>
              </a:r>
            </a:p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교육 프로그램</a:t>
              </a:r>
            </a:p>
            <a:p>
              <a:endPara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조직 문화 혁신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26698FD-A15F-A281-6542-5A834BF71399}"/>
                </a:ext>
              </a:extLst>
            </p:cNvPr>
            <p:cNvSpPr txBox="1"/>
            <p:nvPr/>
          </p:nvSpPr>
          <p:spPr>
            <a:xfrm>
              <a:off x="3359341" y="2519296"/>
              <a:ext cx="16127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spc="-150" dirty="0">
                  <a:solidFill>
                    <a:srgbClr val="FFBD0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step 03</a:t>
              </a:r>
              <a:endParaRPr lang="ko-KR" altLang="en-US" sz="1600" b="1" spc="-150" dirty="0">
                <a:solidFill>
                  <a:srgbClr val="FFBD0B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515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05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예상 성과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0ED794-9541-6C50-82ED-B53CF0465A0F}"/>
              </a:ext>
            </a:extLst>
          </p:cNvPr>
          <p:cNvGrpSpPr/>
          <p:nvPr/>
        </p:nvGrpSpPr>
        <p:grpSpPr>
          <a:xfrm>
            <a:off x="3270852" y="2144033"/>
            <a:ext cx="6267260" cy="792171"/>
            <a:chOff x="3359340" y="2144033"/>
            <a:chExt cx="6267260" cy="7921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F2DB822-CC79-99B2-A2F8-028444CEFFE6}"/>
                </a:ext>
              </a:extLst>
            </p:cNvPr>
            <p:cNvSpPr txBox="1"/>
            <p:nvPr/>
          </p:nvSpPr>
          <p:spPr>
            <a:xfrm>
              <a:off x="3359340" y="2144033"/>
              <a:ext cx="1428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매출 증대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9736FF-F0B9-2D28-0848-C52961CF2A22}"/>
                </a:ext>
              </a:extLst>
            </p:cNvPr>
            <p:cNvSpPr txBox="1"/>
            <p:nvPr/>
          </p:nvSpPr>
          <p:spPr>
            <a:xfrm>
              <a:off x="3575240" y="2597650"/>
              <a:ext cx="22333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전년 대비 </a:t>
              </a:r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40% 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EC2CADC-B7DA-BE0F-AA4D-4BF42A6BBADB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4699000" cy="0"/>
            </a:xfrm>
            <a:prstGeom prst="line">
              <a:avLst/>
            </a:prstGeom>
            <a:ln w="254000" cap="rnd">
              <a:solidFill>
                <a:srgbClr val="EAE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1A870F3-2433-988D-E975-A9B3EA3A606E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2171700" cy="0"/>
            </a:xfrm>
            <a:prstGeom prst="line">
              <a:avLst/>
            </a:prstGeom>
            <a:ln w="2540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996750D-1051-E28D-EB5A-CD043F48B86A}"/>
              </a:ext>
            </a:extLst>
          </p:cNvPr>
          <p:cNvGrpSpPr/>
          <p:nvPr/>
        </p:nvGrpSpPr>
        <p:grpSpPr>
          <a:xfrm>
            <a:off x="3270852" y="3121933"/>
            <a:ext cx="6267260" cy="792171"/>
            <a:chOff x="3359340" y="2144033"/>
            <a:chExt cx="6267260" cy="79217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3F48D9-A203-FE1B-F457-1F8A0ABD900A}"/>
                </a:ext>
              </a:extLst>
            </p:cNvPr>
            <p:cNvSpPr txBox="1"/>
            <p:nvPr/>
          </p:nvSpPr>
          <p:spPr>
            <a:xfrm>
              <a:off x="3359340" y="2144033"/>
              <a:ext cx="1428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시장 점유율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838262-7289-F71E-E506-C44AD33A7F35}"/>
                </a:ext>
              </a:extLst>
            </p:cNvPr>
            <p:cNvSpPr txBox="1"/>
            <p:nvPr/>
          </p:nvSpPr>
          <p:spPr>
            <a:xfrm>
              <a:off x="3575240" y="2597650"/>
              <a:ext cx="22333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현재 </a:t>
              </a:r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12% → 18%</a:t>
              </a:r>
              <a:endPara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7175BA2-DDEB-4771-381D-50495E1154DE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4699000" cy="0"/>
            </a:xfrm>
            <a:prstGeom prst="line">
              <a:avLst/>
            </a:prstGeom>
            <a:ln w="254000" cap="rnd">
              <a:solidFill>
                <a:srgbClr val="EAE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0A4427B-7DF8-392B-6C08-C726ABE90C13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881004" cy="0"/>
            </a:xfrm>
            <a:prstGeom prst="line">
              <a:avLst/>
            </a:prstGeom>
            <a:ln w="2540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4A0A989-7B2E-FC4B-E435-BD8A624431CC}"/>
              </a:ext>
            </a:extLst>
          </p:cNvPr>
          <p:cNvGrpSpPr/>
          <p:nvPr/>
        </p:nvGrpSpPr>
        <p:grpSpPr>
          <a:xfrm>
            <a:off x="3270852" y="4125114"/>
            <a:ext cx="6267260" cy="792171"/>
            <a:chOff x="3359340" y="2144033"/>
            <a:chExt cx="6267260" cy="79217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31AD253-A6BB-FD64-CC65-27F49775F96F}"/>
                </a:ext>
              </a:extLst>
            </p:cNvPr>
            <p:cNvSpPr txBox="1"/>
            <p:nvPr/>
          </p:nvSpPr>
          <p:spPr>
            <a:xfrm>
              <a:off x="3359340" y="2144033"/>
              <a:ext cx="1428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고객 만족도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0DB888-1905-B8FA-819D-A2F5D3C5494C}"/>
                </a:ext>
              </a:extLst>
            </p:cNvPr>
            <p:cNvSpPr txBox="1"/>
            <p:nvPr/>
          </p:nvSpPr>
          <p:spPr>
            <a:xfrm>
              <a:off x="3575240" y="2597650"/>
              <a:ext cx="22333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85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 → </a:t>
              </a:r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92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점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68514A71-6825-7341-BA95-1863D5B8801A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4699000" cy="0"/>
            </a:xfrm>
            <a:prstGeom prst="line">
              <a:avLst/>
            </a:prstGeom>
            <a:ln w="254000" cap="rnd">
              <a:solidFill>
                <a:srgbClr val="EAE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CBA4C366-25E8-0F77-22DE-20D72828161A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4000500" cy="0"/>
            </a:xfrm>
            <a:prstGeom prst="line">
              <a:avLst/>
            </a:prstGeom>
            <a:ln w="2540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FC130F0-D34C-38FA-7543-1DFF42CDC19F}"/>
              </a:ext>
            </a:extLst>
          </p:cNvPr>
          <p:cNvGrpSpPr/>
          <p:nvPr/>
        </p:nvGrpSpPr>
        <p:grpSpPr>
          <a:xfrm>
            <a:off x="3270852" y="5128295"/>
            <a:ext cx="6267260" cy="792171"/>
            <a:chOff x="3359340" y="2144033"/>
            <a:chExt cx="6267260" cy="79217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3B3653-A94D-2BA8-45D8-F331AB111F6F}"/>
                </a:ext>
              </a:extLst>
            </p:cNvPr>
            <p:cNvSpPr txBox="1"/>
            <p:nvPr/>
          </p:nvSpPr>
          <p:spPr>
            <a:xfrm>
              <a:off x="3359340" y="2144033"/>
              <a:ext cx="1428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신규 고객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9FEC863-9995-ACFB-E1D2-5002A620EAF4}"/>
                </a:ext>
              </a:extLst>
            </p:cNvPr>
            <p:cNvSpPr txBox="1"/>
            <p:nvPr/>
          </p:nvSpPr>
          <p:spPr>
            <a:xfrm>
              <a:off x="3575240" y="2597650"/>
              <a:ext cx="22333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5,000</a:t>
              </a:r>
              <a:r>
                <a:rPr lang="ko-KR" altLang="en-US" sz="1600" spc="-150" dirty="0">
                  <a:solidFill>
                    <a:srgbClr val="23232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개 기업 확보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5F16C4FD-D5DE-9551-8C96-55CA2C620167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4699000" cy="0"/>
            </a:xfrm>
            <a:prstGeom prst="line">
              <a:avLst/>
            </a:prstGeom>
            <a:ln w="254000" cap="rnd">
              <a:solidFill>
                <a:srgbClr val="EAE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90373A5B-54E0-5DBC-31BB-29C0D1A784FC}"/>
                </a:ext>
              </a:extLst>
            </p:cNvPr>
            <p:cNvCxnSpPr>
              <a:cxnSpLocks/>
            </p:cNvCxnSpPr>
            <p:nvPr/>
          </p:nvCxnSpPr>
          <p:spPr>
            <a:xfrm>
              <a:off x="4927600" y="2336800"/>
              <a:ext cx="3238500" cy="0"/>
            </a:xfrm>
            <a:prstGeom prst="line">
              <a:avLst/>
            </a:prstGeom>
            <a:ln w="254000" cap="rnd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9487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06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투자 계획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DB822-CC79-99B2-A2F8-028444CEFFE6}"/>
              </a:ext>
            </a:extLst>
          </p:cNvPr>
          <p:cNvSpPr txBox="1"/>
          <p:nvPr/>
        </p:nvSpPr>
        <p:spPr>
          <a:xfrm>
            <a:off x="3270852" y="2144033"/>
            <a:ext cx="2449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투자 규모</a:t>
            </a:r>
            <a:r>
              <a:rPr lang="en-US" altLang="ko-KR" sz="20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50</a:t>
            </a:r>
            <a:r>
              <a:rPr lang="ko-KR" altLang="en-US" sz="20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736FF-F0B9-2D28-0848-C52961CF2A22}"/>
              </a:ext>
            </a:extLst>
          </p:cNvPr>
          <p:cNvSpPr txBox="1"/>
          <p:nvPr/>
        </p:nvSpPr>
        <p:spPr>
          <a:xfrm>
            <a:off x="3486752" y="2597650"/>
            <a:ext cx="2233364" cy="1987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개발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20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원 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(40%)</a:t>
            </a:r>
          </a:p>
          <a:p>
            <a:pPr>
              <a:lnSpc>
                <a:spcPct val="20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마케팅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15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원 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(30%)</a:t>
            </a:r>
          </a:p>
          <a:p>
            <a:pPr>
              <a:lnSpc>
                <a:spcPct val="20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인프라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10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원 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(20%)</a:t>
            </a:r>
          </a:p>
          <a:p>
            <a:pPr>
              <a:lnSpc>
                <a:spcPct val="20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인력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5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원 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(10%)</a:t>
            </a:r>
            <a:endParaRPr lang="ko-KR" altLang="en-US" sz="1600" spc="-150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6B36D4-83BC-BDF4-85BA-E7EEE167124F}"/>
              </a:ext>
            </a:extLst>
          </p:cNvPr>
          <p:cNvCxnSpPr>
            <a:cxnSpLocks/>
          </p:cNvCxnSpPr>
          <p:nvPr/>
        </p:nvCxnSpPr>
        <p:spPr>
          <a:xfrm>
            <a:off x="3388983" y="2802398"/>
            <a:ext cx="0" cy="175367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51BA162D-AB88-7FDE-8EF2-8CA940296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0030058"/>
              </p:ext>
            </p:extLst>
          </p:nvPr>
        </p:nvGraphicFramePr>
        <p:xfrm>
          <a:off x="4824660" y="1914133"/>
          <a:ext cx="6448323" cy="453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8764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07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실행 계획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12799E8-6AE5-AFBA-F8DA-06982C787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116635"/>
              </p:ext>
            </p:extLst>
          </p:nvPr>
        </p:nvGraphicFramePr>
        <p:xfrm>
          <a:off x="3270852" y="2173530"/>
          <a:ext cx="6787548" cy="377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387">
                  <a:extLst>
                    <a:ext uri="{9D8B030D-6E8A-4147-A177-3AD203B41FA5}">
                      <a16:colId xmlns:a16="http://schemas.microsoft.com/office/drawing/2014/main" val="3709794037"/>
                    </a:ext>
                  </a:extLst>
                </a:gridCol>
                <a:gridCol w="2610464">
                  <a:extLst>
                    <a:ext uri="{9D8B030D-6E8A-4147-A177-3AD203B41FA5}">
                      <a16:colId xmlns:a16="http://schemas.microsoft.com/office/drawing/2014/main" val="3781079180"/>
                    </a:ext>
                  </a:extLst>
                </a:gridCol>
                <a:gridCol w="2772697">
                  <a:extLst>
                    <a:ext uri="{9D8B030D-6E8A-4147-A177-3AD203B41FA5}">
                      <a16:colId xmlns:a16="http://schemas.microsoft.com/office/drawing/2014/main" val="1799673718"/>
                    </a:ext>
                  </a:extLst>
                </a:gridCol>
              </a:tblGrid>
              <a:tr h="643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23232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구분</a:t>
                      </a:r>
                    </a:p>
                  </a:txBody>
                  <a:tcPr marT="55321" marB="5532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23232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상반기</a:t>
                      </a:r>
                    </a:p>
                  </a:txBody>
                  <a:tcPr marT="55321" marB="55321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rgbClr val="23232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하반기</a:t>
                      </a:r>
                    </a:p>
                  </a:txBody>
                  <a:tcPr marT="55321" marB="55321" anchor="ctr"/>
                </a:tc>
                <a:extLst>
                  <a:ext uri="{0D108BD9-81ED-4DB2-BD59-A6C34878D82A}">
                    <a16:rowId xmlns:a16="http://schemas.microsoft.com/office/drawing/2014/main" val="1607896091"/>
                  </a:ext>
                </a:extLst>
              </a:tr>
              <a:tr h="522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시스템 분석 및 요구사항 정의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정식 출시 및 마케팅 캠페인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303188"/>
                  </a:ext>
                </a:extLst>
              </a:tr>
              <a:tr h="522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파일럿 프로젝트 시작</a:t>
                      </a: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고객 피드백 수집</a:t>
                      </a: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214403"/>
                  </a:ext>
                </a:extLst>
              </a:tr>
              <a:tr h="522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핵심 기능 개발 및 테스트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개선 및 확대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680478"/>
                  </a:ext>
                </a:extLst>
              </a:tr>
              <a:tr h="522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시장 반응 조사</a:t>
                      </a: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성과 평가 및 차년도 계획 수립</a:t>
                      </a: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838230"/>
                  </a:ext>
                </a:extLst>
              </a:tr>
              <a:tr h="522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핵심 기능 개발 및 테스트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개선 및 확대</a:t>
                      </a:r>
                    </a:p>
                  </a:txBody>
                  <a:tcPr marT="55321" marB="55321" anchor="ctr">
                    <a:solidFill>
                      <a:srgbClr val="E3E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79795"/>
                  </a:ext>
                </a:extLst>
              </a:tr>
              <a:tr h="522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개요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시장 반응 조사</a:t>
                      </a: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성과 평가 및 차년도 계획 수립</a:t>
                      </a:r>
                    </a:p>
                  </a:txBody>
                  <a:tcPr marT="55321" marB="55321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1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9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F6237-8806-DC62-374F-7991B36612B1}"/>
              </a:ext>
            </a:extLst>
          </p:cNvPr>
          <p:cNvSpPr txBox="1"/>
          <p:nvPr/>
        </p:nvSpPr>
        <p:spPr>
          <a:xfrm rot="16200000">
            <a:off x="-370389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Business proposal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EB2F0-11E4-A1D4-7F78-6DADA4BF2F57}"/>
              </a:ext>
            </a:extLst>
          </p:cNvPr>
          <p:cNvSpPr txBox="1"/>
          <p:nvPr/>
        </p:nvSpPr>
        <p:spPr>
          <a:xfrm rot="16200000">
            <a:off x="-143503" y="1188313"/>
            <a:ext cx="1632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2025.10.24</a:t>
            </a:r>
            <a:endParaRPr lang="ko-KR" altLang="en-US" sz="1100" b="1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909F-B353-B0AF-3B02-6EC54BBC35B7}"/>
              </a:ext>
            </a:extLst>
          </p:cNvPr>
          <p:cNvSpPr txBox="1"/>
          <p:nvPr/>
        </p:nvSpPr>
        <p:spPr>
          <a:xfrm>
            <a:off x="1399187" y="990803"/>
            <a:ext cx="121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08</a:t>
            </a:r>
            <a:endParaRPr lang="ko-KR" altLang="en-US" sz="5400" b="1" i="1" spc="-150" dirty="0">
              <a:solidFill>
                <a:srgbClr val="23232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3A35-9EDB-7C54-9281-5F24F3B77AF8}"/>
              </a:ext>
            </a:extLst>
          </p:cNvPr>
          <p:cNvSpPr txBox="1"/>
          <p:nvPr/>
        </p:nvSpPr>
        <p:spPr>
          <a:xfrm>
            <a:off x="2493524" y="1028903"/>
            <a:ext cx="619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i="1" spc="-150" dirty="0">
                <a:solidFill>
                  <a:srgbClr val="23232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결론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736FF-F0B9-2D28-0848-C52961CF2A22}"/>
              </a:ext>
            </a:extLst>
          </p:cNvPr>
          <p:cNvSpPr txBox="1"/>
          <p:nvPr/>
        </p:nvSpPr>
        <p:spPr>
          <a:xfrm>
            <a:off x="3270851" y="1914133"/>
            <a:ext cx="7716697" cy="189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우리는 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2027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년까지 업계 선도 기업으로 도약한다는 명확한 비전 아래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디지털 혁신과 시장 확대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그리고 인재 육성이라는 세 가지 핵심 축을 중심으로 한 실행 가능한 전략을 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수립했으며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AI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클라우드 기술을 적극 도입하여 업무 효율성을 극대화하고 신규 시장 진출을 통해 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매출을 </a:t>
            </a:r>
            <a:r>
              <a:rPr lang="ko-KR" altLang="en-US" sz="1600" spc="-150" dirty="0" err="1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증대시킴으로써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시장 경쟁력을 확보하는 동시에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지속 가능한 성장 기반을 마련하여 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고객에게 혁신적인 가치를 제공하고 장기적으로 업계 최고의 브랜드로 자리매김할 것입니다</a:t>
            </a:r>
            <a:r>
              <a:rPr lang="en-US" altLang="ko-KR" sz="16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600" spc="-150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2B5E9-BBDB-102C-1154-2C5126D7CB47}"/>
              </a:ext>
            </a:extLst>
          </p:cNvPr>
          <p:cNvSpPr txBox="1"/>
          <p:nvPr/>
        </p:nvSpPr>
        <p:spPr>
          <a:xfrm>
            <a:off x="3270851" y="5457447"/>
            <a:ext cx="7716697" cy="613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ko-KR" sz="12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Noto Sans CJK KR : </a:t>
            </a:r>
            <a:r>
              <a:rPr lang="nn-NO" altLang="ko-KR" sz="12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2"/>
              </a:rPr>
              <a:t>https://fonts.google.com/noto/specimen/Noto+Sans+KR</a:t>
            </a:r>
            <a:endParaRPr lang="nn-NO" altLang="ko-KR" sz="1200" spc="-150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nn-NO" altLang="ko-KR" sz="12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Noto Serif CJK KR : </a:t>
            </a:r>
            <a:r>
              <a:rPr lang="nn-NO" altLang="ko-KR" sz="1200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2"/>
              </a:rPr>
              <a:t>https://fonts.google.com/noto/specimen/Noto+Serif+KR</a:t>
            </a:r>
            <a:endParaRPr lang="ko-KR" altLang="en-US" sz="1200" spc="-150" dirty="0">
              <a:solidFill>
                <a:srgbClr val="23232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611EF3-6770-02FB-7287-61533BDC2465}"/>
              </a:ext>
            </a:extLst>
          </p:cNvPr>
          <p:cNvSpPr txBox="1"/>
          <p:nvPr/>
        </p:nvSpPr>
        <p:spPr>
          <a:xfrm>
            <a:off x="3270851" y="5003714"/>
            <a:ext cx="7716697" cy="418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spc="-150" dirty="0">
                <a:solidFill>
                  <a:srgbClr val="23232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사용폰트 다운로드 링크</a:t>
            </a:r>
          </a:p>
        </p:txBody>
      </p:sp>
    </p:spTree>
    <p:extLst>
      <p:ext uri="{BB962C8B-B14F-4D97-AF65-F5344CB8AC3E}">
        <p14:creationId xmlns:p14="http://schemas.microsoft.com/office/powerpoint/2010/main" val="212048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3">
      <a:dk1>
        <a:sysClr val="windowText" lastClr="000000"/>
      </a:dk1>
      <a:lt1>
        <a:sysClr val="window" lastClr="FFFFFF"/>
      </a:lt1>
      <a:dk2>
        <a:srgbClr val="232323"/>
      </a:dk2>
      <a:lt2>
        <a:srgbClr val="E8E8E8"/>
      </a:lt2>
      <a:accent1>
        <a:srgbClr val="FFBD0B"/>
      </a:accent1>
      <a:accent2>
        <a:srgbClr val="FFDC7E"/>
      </a:accent2>
      <a:accent3>
        <a:srgbClr val="9F8E61"/>
      </a:accent3>
      <a:accent4>
        <a:srgbClr val="5A564B"/>
      </a:accent4>
      <a:accent5>
        <a:srgbClr val="F2F2F2"/>
      </a:accent5>
      <a:accent6>
        <a:srgbClr val="232323"/>
      </a:accent6>
      <a:hlink>
        <a:srgbClr val="232323"/>
      </a:hlink>
      <a:folHlink>
        <a:srgbClr val="232323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475</Words>
  <Application>Microsoft Office PowerPoint</Application>
  <PresentationFormat>와이드스크린</PresentationFormat>
  <Paragraphs>140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KR</vt:lpstr>
      <vt:lpstr>Noto Serif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17</cp:revision>
  <dcterms:created xsi:type="dcterms:W3CDTF">2025-10-24T03:10:12Z</dcterms:created>
  <dcterms:modified xsi:type="dcterms:W3CDTF">2025-10-24T04:34:31Z</dcterms:modified>
</cp:coreProperties>
</file>